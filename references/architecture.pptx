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B5587-565E-1153-115B-BC59339F1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902455-378B-2DEE-2B13-C312C94D1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6E21BC-D492-E54C-CCA4-DF63705B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EB4E6B-40CB-F563-CB09-92886E13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5A066E-38F3-C054-D21F-49144E32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28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CDB04A-8731-C650-104B-D6C76F73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6E1A6B-7E6A-7D76-9692-6338955E7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D88202-C9F8-60F2-3A55-8C89999F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3A7AD-54B1-1419-1B50-3ED84A3B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97A89C-1850-347B-3F14-4F5459B6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8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8F3DF-39A7-6F34-158B-498BF804A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D111C7-5731-BF7E-0514-E80C35773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4D2C69-EC3E-E7E6-83A9-FDE34A452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40CD9C-E978-7535-1A53-0656558D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904853-086F-A653-6B28-81008A54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03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C1AC43-CCD0-B52A-B5FD-2A229414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8022A4-1A4B-672E-3C3F-362FC1119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948580-FA6C-6DA9-D7C0-1F3E17F64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6E5DEC-1136-543A-B952-D69F87E8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D5EAB26-C59B-EC7C-B62A-8E9C80E7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07AB74-20A0-2C9B-A972-C64C17AC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107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F3CA0-2E2B-91B6-2537-E50448359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C694A9-5A85-40F0-AA2A-C9D877534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0F219D-8908-0A01-94B1-C9C875EB9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7126D25-F702-2C62-A03D-A5AF8BDDF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EE77DDB-D8B7-70C5-1064-D23CAD5FA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EE1D860-E2EB-592B-A8F2-BFFBDC8A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D773A91-06E3-894C-7F6E-811F9B76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BB53405-B7EF-0FBF-58C6-793693F3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46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81B039-C658-81F8-5F56-9F2CB149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E44728D-C2E0-CFCB-ED5C-3D671A6A3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1F184D-FC77-E8C7-0C9C-EB1B994E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FDD721-5FE6-973A-E725-CF9E16A5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51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7CB0126-A5DC-9299-AA4D-29914AC7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ABEFDE8-7AA4-43A8-3DA1-0285CD2AF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B5307E-7525-EBFE-0AAF-3012E1E2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51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A2C83-23A3-59AA-91A8-C6844848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2A7BD1-42D4-E7AC-799A-300E30E47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568BD7-25AD-416A-82C1-20284FC18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2A1BD8-63E6-7A68-54F3-80691438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173516-4BB8-0516-F5E2-9148A5B88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22F198-3621-491D-2138-5401F724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42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6835B-0633-11BF-DE3C-AA1382F2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202A082-A0D4-E34C-6116-4DCB5D7AA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7EBDA14-630C-E817-9E3B-9948D1F4B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D71EE1-A800-1FA1-9DCD-5F41FFA9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A4E1EA-0115-F7F4-1CB2-127DAF33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7F384B-F477-18AD-243E-AAEDED2A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20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21886-DA05-E863-87B6-18EC74C2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7EF56A-7416-3E22-AC5D-EA3F54C3E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48653C-1874-7A6B-8B18-13DE8485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05C828-0363-0C98-B4A4-97BAE2E1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001A99-CD9B-CA9B-4825-B4086F56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21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09C93FE-0718-2859-BD9C-5600ADC9E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728A86-A6E0-4495-80E4-B37A8B70E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23E252-DFC7-C54C-BC50-CF3C50DB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AE88D6-316B-1062-C0A5-7E5CCAB5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295D21-E9D4-0B0E-1B82-36DB213F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46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3A411E-2E6E-CB5B-0DE3-E44CE9F5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5AF559-BDB3-DE94-9915-9CB6821D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4E0B99-FFAB-B704-7E7F-67BBA948A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AE74D-4286-4DF0-8C6C-59E443377C3E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BEC690-8753-7C97-8F1D-FEA1A0243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CD661C-7195-C6F3-0D9C-06889C1EB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0F9AD-7F41-43E0-A93F-3EC222446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71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8B9883-752A-364A-4A92-F00317A75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0A6311-D549-7980-C45B-554832D9B9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381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圖: 磁碟 3">
            <a:extLst>
              <a:ext uri="{FF2B5EF4-FFF2-40B4-BE49-F238E27FC236}">
                <a16:creationId xmlns:a16="http://schemas.microsoft.com/office/drawing/2014/main" id="{22F5079E-D0C3-806E-12DA-19AD7B06E247}"/>
              </a:ext>
            </a:extLst>
          </p:cNvPr>
          <p:cNvSpPr/>
          <p:nvPr/>
        </p:nvSpPr>
        <p:spPr>
          <a:xfrm>
            <a:off x="305728" y="509015"/>
            <a:ext cx="1591056" cy="969264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1516D8-BCE1-3C7F-0DAC-C7D30894D9A7}"/>
              </a:ext>
            </a:extLst>
          </p:cNvPr>
          <p:cNvSpPr txBox="1"/>
          <p:nvPr/>
        </p:nvSpPr>
        <p:spPr>
          <a:xfrm>
            <a:off x="431842" y="9210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全國課程網</a:t>
            </a:r>
          </a:p>
        </p:txBody>
      </p:sp>
      <p:sp>
        <p:nvSpPr>
          <p:cNvPr id="6" name="流程圖: 磁碟 5">
            <a:extLst>
              <a:ext uri="{FF2B5EF4-FFF2-40B4-BE49-F238E27FC236}">
                <a16:creationId xmlns:a16="http://schemas.microsoft.com/office/drawing/2014/main" id="{FB287D58-61EA-B91A-E60D-3F9FEB358DEE}"/>
              </a:ext>
            </a:extLst>
          </p:cNvPr>
          <p:cNvSpPr/>
          <p:nvPr/>
        </p:nvSpPr>
        <p:spPr>
          <a:xfrm>
            <a:off x="352111" y="2209799"/>
            <a:ext cx="1591056" cy="969264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98DA5DA-F05D-CEF5-3A94-56EC4FAC7A01}"/>
              </a:ext>
            </a:extLst>
          </p:cNvPr>
          <p:cNvSpPr txBox="1"/>
          <p:nvPr/>
        </p:nvSpPr>
        <p:spPr>
          <a:xfrm>
            <a:off x="246591" y="2461588"/>
            <a:ext cx="17803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&lt;&lt;xlsx&gt;&gt;</a:t>
            </a:r>
          </a:p>
          <a:p>
            <a:pPr algn="ctr"/>
            <a:r>
              <a:rPr lang="en-US" altLang="zh-TW" sz="1400" dirty="0"/>
              <a:t>114</a:t>
            </a:r>
            <a:r>
              <a:rPr lang="zh-TW" altLang="en-US" sz="1400" dirty="0"/>
              <a:t>年度</a:t>
            </a:r>
            <a:endParaRPr lang="en-US" altLang="zh-TW" sz="1400" dirty="0"/>
          </a:p>
          <a:p>
            <a:pPr algn="ctr"/>
            <a:r>
              <a:rPr lang="zh-TW" altLang="en-US" sz="1400" dirty="0"/>
              <a:t>學士班課程</a:t>
            </a:r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B6C42CB3-86EF-85D9-3604-0D8C1D50BF7E}"/>
              </a:ext>
            </a:extLst>
          </p:cNvPr>
          <p:cNvSpPr/>
          <p:nvPr/>
        </p:nvSpPr>
        <p:spPr>
          <a:xfrm>
            <a:off x="954157" y="1636642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D59E13-EA14-F1A4-2FEC-CA3ED574FC36}"/>
              </a:ext>
            </a:extLst>
          </p:cNvPr>
          <p:cNvSpPr txBox="1"/>
          <p:nvPr/>
        </p:nvSpPr>
        <p:spPr>
          <a:xfrm>
            <a:off x="1198931" y="1609410"/>
            <a:ext cx="1909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/>
              <a:t>下載</a:t>
            </a:r>
            <a:r>
              <a:rPr lang="en-US" altLang="zh-TW" sz="1400" dirty="0"/>
              <a:t>xlsx</a:t>
            </a:r>
          </a:p>
          <a:p>
            <a:pPr algn="ctr"/>
            <a:r>
              <a:rPr lang="en-US" altLang="zh-TW" sz="1400" dirty="0"/>
              <a:t>(</a:t>
            </a:r>
            <a:r>
              <a:rPr lang="zh-TW" altLang="en-US" sz="1400" dirty="0"/>
              <a:t>每個大學每年度一份</a:t>
            </a:r>
            <a:r>
              <a:rPr lang="en-US" altLang="zh-TW" sz="1400" dirty="0"/>
              <a:t>)</a:t>
            </a:r>
            <a:endParaRPr lang="zh-TW" altLang="en-US" sz="1400" dirty="0"/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3B9002C9-FD30-2F94-A7F4-2833942F5589}"/>
              </a:ext>
            </a:extLst>
          </p:cNvPr>
          <p:cNvSpPr/>
          <p:nvPr/>
        </p:nvSpPr>
        <p:spPr>
          <a:xfrm rot="17945069">
            <a:off x="2176701" y="2778990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AAFBCB-1803-96C4-9189-33280753BF3D}"/>
              </a:ext>
            </a:extLst>
          </p:cNvPr>
          <p:cNvSpPr txBox="1"/>
          <p:nvPr/>
        </p:nvSpPr>
        <p:spPr>
          <a:xfrm>
            <a:off x="2534210" y="3265782"/>
            <a:ext cx="1466042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sz="1400" dirty="0" err="1"/>
              <a:t>filter_ai_courses</a:t>
            </a:r>
            <a:endParaRPr lang="zh-TW" altLang="en-US" sz="1400" dirty="0"/>
          </a:p>
        </p:txBody>
      </p:sp>
      <p:sp>
        <p:nvSpPr>
          <p:cNvPr id="14" name="流程圖: 磁碟 13">
            <a:extLst>
              <a:ext uri="{FF2B5EF4-FFF2-40B4-BE49-F238E27FC236}">
                <a16:creationId xmlns:a16="http://schemas.microsoft.com/office/drawing/2014/main" id="{BABB9598-B9FE-D632-BB13-F6BA0FF5FFA0}"/>
              </a:ext>
            </a:extLst>
          </p:cNvPr>
          <p:cNvSpPr/>
          <p:nvPr/>
        </p:nvSpPr>
        <p:spPr>
          <a:xfrm>
            <a:off x="373494" y="3788141"/>
            <a:ext cx="1591056" cy="969264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CAC2C7F-C206-86C9-FBCE-28918C290B16}"/>
              </a:ext>
            </a:extLst>
          </p:cNvPr>
          <p:cNvSpPr txBox="1"/>
          <p:nvPr/>
        </p:nvSpPr>
        <p:spPr>
          <a:xfrm>
            <a:off x="257467" y="4099327"/>
            <a:ext cx="1780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Keyterms.txt</a:t>
            </a:r>
          </a:p>
          <a:p>
            <a:pPr algn="ctr"/>
            <a:r>
              <a:rPr lang="en-US" altLang="zh-TW" sz="1400" dirty="0"/>
              <a:t>62</a:t>
            </a:r>
            <a:r>
              <a:rPr lang="zh-TW" altLang="en-US" sz="1400" dirty="0"/>
              <a:t>個</a:t>
            </a:r>
            <a:r>
              <a:rPr lang="en-US" altLang="zh-TW" sz="1400" dirty="0"/>
              <a:t>AI </a:t>
            </a:r>
            <a:r>
              <a:rPr lang="zh-TW" altLang="en-US" sz="1400" dirty="0"/>
              <a:t>課程關鍵詞</a:t>
            </a:r>
            <a:endParaRPr lang="en-US" altLang="zh-TW" sz="1400" dirty="0"/>
          </a:p>
        </p:txBody>
      </p:sp>
      <p:sp>
        <p:nvSpPr>
          <p:cNvPr id="16" name="箭號: 向下 15">
            <a:extLst>
              <a:ext uri="{FF2B5EF4-FFF2-40B4-BE49-F238E27FC236}">
                <a16:creationId xmlns:a16="http://schemas.microsoft.com/office/drawing/2014/main" id="{05E73586-9040-80EC-6240-42995C9CF6EF}"/>
              </a:ext>
            </a:extLst>
          </p:cNvPr>
          <p:cNvSpPr/>
          <p:nvPr/>
        </p:nvSpPr>
        <p:spPr>
          <a:xfrm rot="14368049">
            <a:off x="2130799" y="3543490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F574AD8-502F-FECC-D738-7DB31A3F28C9}"/>
              </a:ext>
            </a:extLst>
          </p:cNvPr>
          <p:cNvSpPr txBox="1"/>
          <p:nvPr/>
        </p:nvSpPr>
        <p:spPr>
          <a:xfrm>
            <a:off x="431842" y="4774041"/>
            <a:ext cx="133882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dirty="0"/>
              <a:t>AI</a:t>
            </a:r>
          </a:p>
          <a:p>
            <a:r>
              <a:rPr lang="zh-TW" altLang="en-US" sz="1100" dirty="0"/>
              <a:t>人工智慧</a:t>
            </a:r>
          </a:p>
          <a:p>
            <a:r>
              <a:rPr lang="zh-TW" altLang="en-US" sz="1100" dirty="0"/>
              <a:t>生成式</a:t>
            </a:r>
            <a:r>
              <a:rPr lang="en-US" altLang="zh-TW" sz="1100" dirty="0"/>
              <a:t>AI</a:t>
            </a:r>
          </a:p>
          <a:p>
            <a:r>
              <a:rPr lang="zh-TW" altLang="en-US" sz="1100" dirty="0"/>
              <a:t>生成式人工智慧</a:t>
            </a:r>
          </a:p>
          <a:p>
            <a:r>
              <a:rPr lang="en-US" altLang="zh-TW" sz="1100" dirty="0"/>
              <a:t>ChatGPT</a:t>
            </a:r>
          </a:p>
          <a:p>
            <a:r>
              <a:rPr lang="en-US" altLang="zh-TW" sz="1100" dirty="0"/>
              <a:t>Gemini</a:t>
            </a:r>
          </a:p>
          <a:p>
            <a:r>
              <a:rPr lang="en-US" altLang="zh-TW" sz="1100" dirty="0"/>
              <a:t>Claude</a:t>
            </a:r>
          </a:p>
          <a:p>
            <a:r>
              <a:rPr lang="en-US" altLang="zh-TW" sz="1100" dirty="0"/>
              <a:t>Copilot</a:t>
            </a:r>
          </a:p>
          <a:p>
            <a:r>
              <a:rPr lang="zh-TW" altLang="en-US" sz="1100" dirty="0"/>
              <a:t>大型語言模型</a:t>
            </a:r>
            <a:r>
              <a:rPr lang="en-US" altLang="zh-TW" sz="1100" dirty="0"/>
              <a:t>…</a:t>
            </a:r>
            <a:endParaRPr lang="zh-TW" altLang="en-US" sz="11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82260F0-E7A4-D9EA-A8E1-EF1344D735CE}"/>
              </a:ext>
            </a:extLst>
          </p:cNvPr>
          <p:cNvSpPr txBox="1"/>
          <p:nvPr/>
        </p:nvSpPr>
        <p:spPr>
          <a:xfrm>
            <a:off x="2481518" y="357375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關鍵字初步篩選</a:t>
            </a:r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8F5062D3-29EC-20BE-0B6B-36CF0E83CA2A}"/>
              </a:ext>
            </a:extLst>
          </p:cNvPr>
          <p:cNvSpPr/>
          <p:nvPr/>
        </p:nvSpPr>
        <p:spPr>
          <a:xfrm rot="10800000">
            <a:off x="3586297" y="2644748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流程圖: 磁碟 20">
            <a:extLst>
              <a:ext uri="{FF2B5EF4-FFF2-40B4-BE49-F238E27FC236}">
                <a16:creationId xmlns:a16="http://schemas.microsoft.com/office/drawing/2014/main" id="{A96321EC-AE16-837A-E577-822802D27698}"/>
              </a:ext>
            </a:extLst>
          </p:cNvPr>
          <p:cNvSpPr/>
          <p:nvPr/>
        </p:nvSpPr>
        <p:spPr>
          <a:xfrm>
            <a:off x="3486483" y="1478279"/>
            <a:ext cx="1591056" cy="1046322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60A51EA-E75A-36BB-B08C-CB68FC0C4A3F}"/>
              </a:ext>
            </a:extLst>
          </p:cNvPr>
          <p:cNvSpPr txBox="1"/>
          <p:nvPr/>
        </p:nvSpPr>
        <p:spPr>
          <a:xfrm>
            <a:off x="3367700" y="1758757"/>
            <a:ext cx="17803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&lt;&lt;csv&gt;&gt;</a:t>
            </a:r>
          </a:p>
          <a:p>
            <a:pPr algn="ctr"/>
            <a:r>
              <a:rPr lang="en-US" altLang="zh-TW" sz="1400" dirty="0"/>
              <a:t>114</a:t>
            </a:r>
            <a:r>
              <a:rPr lang="zh-TW" altLang="en-US" sz="1400" dirty="0"/>
              <a:t>學年度潛在具</a:t>
            </a:r>
            <a:r>
              <a:rPr lang="en-US" altLang="zh-TW" sz="1400" dirty="0"/>
              <a:t>AI</a:t>
            </a:r>
            <a:r>
              <a:rPr lang="zh-TW" altLang="en-US" sz="1400" dirty="0"/>
              <a:t>內涵相關課程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AFA9B68-BF6B-75DF-1D85-89D98EA916BE}"/>
              </a:ext>
            </a:extLst>
          </p:cNvPr>
          <p:cNvSpPr txBox="1"/>
          <p:nvPr/>
        </p:nvSpPr>
        <p:spPr>
          <a:xfrm>
            <a:off x="5767982" y="1949563"/>
            <a:ext cx="1188210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sz="1400" dirty="0" err="1"/>
              <a:t>rate_courses</a:t>
            </a:r>
            <a:endParaRPr lang="zh-TW" altLang="en-US" sz="1400" dirty="0"/>
          </a:p>
        </p:txBody>
      </p:sp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91C22018-8FE6-7D64-FFD0-EFC499A0FAE6}"/>
              </a:ext>
            </a:extLst>
          </p:cNvPr>
          <p:cNvSpPr/>
          <p:nvPr/>
        </p:nvSpPr>
        <p:spPr>
          <a:xfrm rot="16200000">
            <a:off x="5271060" y="1849030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CDF8D50-E977-A07B-6466-79EEE0F59C22}"/>
              </a:ext>
            </a:extLst>
          </p:cNvPr>
          <p:cNvSpPr txBox="1"/>
          <p:nvPr/>
        </p:nvSpPr>
        <p:spPr>
          <a:xfrm>
            <a:off x="5599665" y="2311109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LLM</a:t>
            </a:r>
            <a:r>
              <a:rPr lang="zh-TW" altLang="en-US" dirty="0"/>
              <a:t>評分</a:t>
            </a:r>
          </a:p>
        </p:txBody>
      </p:sp>
      <p:sp>
        <p:nvSpPr>
          <p:cNvPr id="26" name="流程圖: 磁碟 25">
            <a:extLst>
              <a:ext uri="{FF2B5EF4-FFF2-40B4-BE49-F238E27FC236}">
                <a16:creationId xmlns:a16="http://schemas.microsoft.com/office/drawing/2014/main" id="{53118927-274A-71AF-DB1F-5954E41145A4}"/>
              </a:ext>
            </a:extLst>
          </p:cNvPr>
          <p:cNvSpPr/>
          <p:nvPr/>
        </p:nvSpPr>
        <p:spPr>
          <a:xfrm>
            <a:off x="5704278" y="3265782"/>
            <a:ext cx="1591056" cy="969264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181D1C3-D922-D1FF-05A9-BAAC487584A8}"/>
              </a:ext>
            </a:extLst>
          </p:cNvPr>
          <p:cNvSpPr txBox="1"/>
          <p:nvPr/>
        </p:nvSpPr>
        <p:spPr>
          <a:xfrm>
            <a:off x="5609634" y="3571635"/>
            <a:ext cx="17803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/>
              <a:t>Prompt.txt</a:t>
            </a:r>
          </a:p>
          <a:p>
            <a:pPr algn="ctr"/>
            <a:r>
              <a:rPr lang="zh-TW" altLang="en-US" sz="1100" dirty="0"/>
              <a:t> </a:t>
            </a:r>
            <a:r>
              <a:rPr lang="en-US" altLang="zh-TW" sz="1100" dirty="0"/>
              <a:t>AI</a:t>
            </a:r>
            <a:r>
              <a:rPr lang="zh-TW" altLang="en-US" sz="1100" dirty="0"/>
              <a:t>人才圖像</a:t>
            </a:r>
            <a:r>
              <a:rPr lang="en-US" altLang="zh-TW" sz="1100" dirty="0"/>
              <a:t>4</a:t>
            </a:r>
            <a:r>
              <a:rPr lang="zh-TW" altLang="en-US" sz="1100" dirty="0"/>
              <a:t>大能力定義與評定基準、評量尺規</a:t>
            </a:r>
            <a:endParaRPr lang="en-US" altLang="zh-TW" sz="1100" dirty="0"/>
          </a:p>
        </p:txBody>
      </p:sp>
      <p:sp>
        <p:nvSpPr>
          <p:cNvPr id="28" name="箭號: 向下 27">
            <a:extLst>
              <a:ext uri="{FF2B5EF4-FFF2-40B4-BE49-F238E27FC236}">
                <a16:creationId xmlns:a16="http://schemas.microsoft.com/office/drawing/2014/main" id="{A05DED7F-ABA1-8D03-0989-9BF64AD5CE31}"/>
              </a:ext>
            </a:extLst>
          </p:cNvPr>
          <p:cNvSpPr/>
          <p:nvPr/>
        </p:nvSpPr>
        <p:spPr>
          <a:xfrm rot="10800000">
            <a:off x="6316219" y="2708882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349A7A5-C5F7-32F2-AC24-421F8B53FFD9}"/>
              </a:ext>
            </a:extLst>
          </p:cNvPr>
          <p:cNvSpPr txBox="1"/>
          <p:nvPr/>
        </p:nvSpPr>
        <p:spPr>
          <a:xfrm>
            <a:off x="6162872" y="769180"/>
            <a:ext cx="598241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dirty="0"/>
              <a:t>LLM</a:t>
            </a:r>
            <a:endParaRPr lang="zh-TW" altLang="en-US" dirty="0"/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06B30B46-DD68-7C34-C45E-111AF7E66653}"/>
              </a:ext>
            </a:extLst>
          </p:cNvPr>
          <p:cNvSpPr/>
          <p:nvPr/>
        </p:nvSpPr>
        <p:spPr>
          <a:xfrm rot="10800000">
            <a:off x="6133542" y="1251971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ECBA913B-3F69-0005-BB43-444957E1E0B5}"/>
              </a:ext>
            </a:extLst>
          </p:cNvPr>
          <p:cNvSpPr/>
          <p:nvPr/>
        </p:nvSpPr>
        <p:spPr>
          <a:xfrm>
            <a:off x="6534549" y="1269454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C4051D8-7AAA-9CE7-54FF-3F71AE508E99}"/>
              </a:ext>
            </a:extLst>
          </p:cNvPr>
          <p:cNvSpPr txBox="1"/>
          <p:nvPr/>
        </p:nvSpPr>
        <p:spPr>
          <a:xfrm>
            <a:off x="5272789" y="1145996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Prompt</a:t>
            </a:r>
          </a:p>
          <a:p>
            <a:r>
              <a:rPr lang="en-US" altLang="zh-TW" sz="1400" dirty="0"/>
              <a:t>API key</a:t>
            </a:r>
          </a:p>
          <a:p>
            <a:r>
              <a:rPr lang="zh-TW" altLang="en-US" sz="1400" dirty="0"/>
              <a:t>課程資訊</a:t>
            </a:r>
            <a:endParaRPr lang="en-US" altLang="zh-TW" sz="14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B1D0DFD-32C8-E0D2-109C-1A3F27396B55}"/>
              </a:ext>
            </a:extLst>
          </p:cNvPr>
          <p:cNvSpPr txBox="1"/>
          <p:nvPr/>
        </p:nvSpPr>
        <p:spPr>
          <a:xfrm>
            <a:off x="6784039" y="1230727"/>
            <a:ext cx="10750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/>
              <a:t>批次提交評分</a:t>
            </a:r>
            <a:endParaRPr lang="en-US" altLang="zh-TW" sz="1100" dirty="0"/>
          </a:p>
          <a:p>
            <a:r>
              <a:rPr lang="zh-TW" altLang="en-US" sz="1100" dirty="0"/>
              <a:t>附加評定理由說明</a:t>
            </a:r>
            <a:endParaRPr lang="en-US" altLang="zh-TW" sz="1100" dirty="0"/>
          </a:p>
        </p:txBody>
      </p:sp>
      <p:sp>
        <p:nvSpPr>
          <p:cNvPr id="34" name="流程圖: 磁碟 33">
            <a:extLst>
              <a:ext uri="{FF2B5EF4-FFF2-40B4-BE49-F238E27FC236}">
                <a16:creationId xmlns:a16="http://schemas.microsoft.com/office/drawing/2014/main" id="{8769DEB4-3349-C2F6-9E2D-84582519129E}"/>
              </a:ext>
            </a:extLst>
          </p:cNvPr>
          <p:cNvSpPr/>
          <p:nvPr/>
        </p:nvSpPr>
        <p:spPr>
          <a:xfrm>
            <a:off x="7611427" y="1769950"/>
            <a:ext cx="1075088" cy="738664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EAE7224-81E4-DBB3-C68E-22BA4CBD3F1B}"/>
              </a:ext>
            </a:extLst>
          </p:cNvPr>
          <p:cNvSpPr txBox="1"/>
          <p:nvPr/>
        </p:nvSpPr>
        <p:spPr>
          <a:xfrm>
            <a:off x="7270039" y="1948189"/>
            <a:ext cx="1780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&lt;&lt;csv&gt;&gt;</a:t>
            </a:r>
          </a:p>
          <a:p>
            <a:pPr algn="ctr"/>
            <a:r>
              <a:rPr lang="zh-TW" altLang="en-US" sz="1400" dirty="0"/>
              <a:t>評分結果</a:t>
            </a:r>
          </a:p>
        </p:txBody>
      </p:sp>
      <p:sp>
        <p:nvSpPr>
          <p:cNvPr id="36" name="箭號: 向下 35">
            <a:extLst>
              <a:ext uri="{FF2B5EF4-FFF2-40B4-BE49-F238E27FC236}">
                <a16:creationId xmlns:a16="http://schemas.microsoft.com/office/drawing/2014/main" id="{148C222B-E97D-E946-1223-620BE1BF0B96}"/>
              </a:ext>
            </a:extLst>
          </p:cNvPr>
          <p:cNvSpPr/>
          <p:nvPr/>
        </p:nvSpPr>
        <p:spPr>
          <a:xfrm rot="16200000">
            <a:off x="7149560" y="1852673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BAEDD50-59A6-52CD-71E4-6C74E48A1B84}"/>
              </a:ext>
            </a:extLst>
          </p:cNvPr>
          <p:cNvSpPr txBox="1"/>
          <p:nvPr/>
        </p:nvSpPr>
        <p:spPr>
          <a:xfrm>
            <a:off x="9341750" y="1949563"/>
            <a:ext cx="1498295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sz="1400" dirty="0" err="1"/>
              <a:t>build_dashboard</a:t>
            </a:r>
            <a:endParaRPr lang="zh-TW" altLang="en-US" sz="1400" dirty="0"/>
          </a:p>
        </p:txBody>
      </p:sp>
      <p:sp>
        <p:nvSpPr>
          <p:cNvPr id="38" name="箭號: 向下 37">
            <a:extLst>
              <a:ext uri="{FF2B5EF4-FFF2-40B4-BE49-F238E27FC236}">
                <a16:creationId xmlns:a16="http://schemas.microsoft.com/office/drawing/2014/main" id="{E93700C0-B5A5-EB2A-FD5B-96EEEEFF40C2}"/>
              </a:ext>
            </a:extLst>
          </p:cNvPr>
          <p:cNvSpPr/>
          <p:nvPr/>
        </p:nvSpPr>
        <p:spPr>
          <a:xfrm rot="16200000">
            <a:off x="8868359" y="1871215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C88930F-F301-2962-7B48-EC64DE379294}"/>
              </a:ext>
            </a:extLst>
          </p:cNvPr>
          <p:cNvSpPr txBox="1"/>
          <p:nvPr/>
        </p:nvSpPr>
        <p:spPr>
          <a:xfrm>
            <a:off x="9301693" y="22718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產出互動報表</a:t>
            </a:r>
          </a:p>
        </p:txBody>
      </p:sp>
      <p:sp>
        <p:nvSpPr>
          <p:cNvPr id="40" name="箭號: 向下 39">
            <a:extLst>
              <a:ext uri="{FF2B5EF4-FFF2-40B4-BE49-F238E27FC236}">
                <a16:creationId xmlns:a16="http://schemas.microsoft.com/office/drawing/2014/main" id="{023B9BF6-5CF5-7F80-28BE-C2B3D546AD4E}"/>
              </a:ext>
            </a:extLst>
          </p:cNvPr>
          <p:cNvSpPr/>
          <p:nvPr/>
        </p:nvSpPr>
        <p:spPr>
          <a:xfrm>
            <a:off x="9862640" y="2708882"/>
            <a:ext cx="291548" cy="48930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575CABA8-857F-7DBD-72B7-EF57ED41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399" y="3313915"/>
            <a:ext cx="3628850" cy="2471225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18982726-315F-79F9-2E10-BD9E314B6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566" y="4246340"/>
            <a:ext cx="2483499" cy="235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6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114</Words>
  <Application>Microsoft Office PowerPoint</Application>
  <PresentationFormat>寬螢幕</PresentationFormat>
  <Paragraphs>35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峻鋒 廖</dc:creator>
  <cp:lastModifiedBy>峻鋒 廖</cp:lastModifiedBy>
  <cp:revision>52</cp:revision>
  <dcterms:created xsi:type="dcterms:W3CDTF">2026-07-10T10:16:04Z</dcterms:created>
  <dcterms:modified xsi:type="dcterms:W3CDTF">2026-07-14T15:15:47Z</dcterms:modified>
</cp:coreProperties>
</file>